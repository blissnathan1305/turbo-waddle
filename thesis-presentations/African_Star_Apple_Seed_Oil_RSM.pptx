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22222"/>
                </a:solidFill>
                <a:latin typeface="Arial"/>
              </a:rPr>
              <a:t>Mean oil yield (%) by run (°C / min)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yield (%)</c:v>
                </c:pt>
              </c:strCache>
            </c:strRef>
          </c:tx>
          <c:spPr>
            <a:solidFill>
              <a:srgbClr val="A2531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Control</c:v>
                  </c:pt>
                  <c:pt idx="1">
                    <c:v>R1 50/5</c:v>
                  </c:pt>
                  <c:pt idx="2">
                    <c:v>R2 90/5</c:v>
                  </c:pt>
                  <c:pt idx="3">
                    <c:v>R3 50/20</c:v>
                  </c:pt>
                  <c:pt idx="4">
                    <c:v>R4 90/20</c:v>
                  </c:pt>
                  <c:pt idx="5">
                    <c:v>R5 50/12.5</c:v>
                  </c:pt>
                  <c:pt idx="6">
                    <c:v>R6 90/12.5</c:v>
                  </c:pt>
                  <c:pt idx="7">
                    <c:v>R7 70/5</c:v>
                  </c:pt>
                  <c:pt idx="8">
                    <c:v>R8 70/20</c:v>
                  </c:pt>
                  <c:pt idx="9">
                    <c:v>Centre 70/12.5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10.82</c:v>
                </c:pt>
                <c:pt idx="1">
                  <c:v>11.85</c:v>
                </c:pt>
                <c:pt idx="2">
                  <c:v>14.1</c:v>
                </c:pt>
                <c:pt idx="3">
                  <c:v>13.35</c:v>
                </c:pt>
                <c:pt idx="4">
                  <c:v>15.15</c:v>
                </c:pt>
                <c:pt idx="5">
                  <c:v>12.7</c:v>
                </c:pt>
                <c:pt idx="6">
                  <c:v>15.62</c:v>
                </c:pt>
                <c:pt idx="7">
                  <c:v>13.87</c:v>
                </c:pt>
                <c:pt idx="8">
                  <c:v>15.77</c:v>
                </c:pt>
                <c:pt idx="9">
                  <c:v>16.86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2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Effect of Pretreatment on the Oil Yield of African Star Apple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317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Udedeh, Wisdom Aniefiok</a:t>
            </a:r>
            <a:endParaRPr lang="en-US" sz="17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20/EG/AE/705</a:t>
            </a:r>
            <a:endParaRPr lang="en-US" sz="17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Engineering</a:t>
            </a:r>
            <a:endParaRPr lang="en-US" sz="17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Elijah G. Ikrang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03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Agricultural and Food Engineering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Engineering, University of Uyo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2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and Problem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Udedeh, Wisdom Aniefiok · Effect of pretreatment on the oil yield of African star apple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539496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star apple (Chrysophyllum albidum) seeds are usually thrown away after the fruit is eaten.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 oil can be used for soaps, cosmetics, lubricants and biodiesel.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 is low in oil (about 10–24%), so recovery must be improved.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pretreatment can break seed cells and improve oil flow, but too much heat lowers yield and quality.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validated oven temperature and time exist for these seeds.</a:t>
            </a:r>
            <a:endParaRPr lang="en-US" sz="1500" dirty="0"/>
          </a:p>
        </p:txBody>
      </p:sp>
      <p:pic>
        <p:nvPicPr>
          <p:cNvPr id="6" name="Image 0" descr="/tmp/claude-0/-home-user-turbo-waddle/ad35ba9a-094e-5ee6-8003-ce9eec29c07b/scratchpad/ud/word/media/image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109948"/>
            <a:ext cx="2560320" cy="317506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star apple fruits (Fig. 1.1)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2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and Objectives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Udedeh, Wisdom Aniefiok · Effect of pretreatment on the oil yield of African star apple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determine and optimise the effects of oven pretreatment temperature and duration on oil yield from African star apple seeds using Response Surface Methodology (RSM).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40280"/>
            <a:ext cx="82296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seeds to uniform particle size and determine initial moisture content.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Pretreat the seeds at selected temperature–time combinations and extract the oil by Soxhlet.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linear, interaction and quadratic effects of temperature and time on oil yield.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second-order model, find the optimum and validate it.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physicochemical properties of the oil.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2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 and Methods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Udedeh, Wisdom Aniefiok · Effect of pretreatment on the oil yield of African star apple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548640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washed, dried, cracked, milled and sieved (2 mm).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content: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oven drying at 105 °C to constant mass.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Pretreatment: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oven at 50–90 °C for 5–20 min.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Soxhlet, 20 g sample with 250 mL n-hexane for 6 h.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face-centred central composite design, 2 factors at 3 levels, 13 runs.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analysis: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acid, saponification and iodine values, specific gravity, refractive index.</a:t>
            </a:r>
            <a:endParaRPr lang="en-US" sz="1500" dirty="0"/>
          </a:p>
        </p:txBody>
      </p:sp>
      <p:pic>
        <p:nvPicPr>
          <p:cNvPr id="6" name="Image 0" descr="/tmp/claude-0/-home-user-turbo-waddle/ad35ba9a-094e-5ee6-8003-ce9eec29c07b/scratchpad/ud/word/media/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5075" y="1097280"/>
            <a:ext cx="2366010" cy="3154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0" y="4297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Soxhlet set-up (Fig. 3.1)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2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Design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Udedeh, Wisdom Aniefiok · Effect of pretreatment on the oil yield of African star apple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155448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(−1)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Centre (0)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(+1)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D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(°C)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(min)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2560320"/>
            <a:ext cx="822960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runs: 4 factorial points, 4 axial points and 5 centre points.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extracted in triplicate; an untreated control was extracted the same way.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model: Y = β₀ + β₁X₁ + β₂X₂ + β₁₂X₁X₂ + β₁₁X₁² + β₂₂X₂²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2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1: Oil Yield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Udedeh, Wisdom Aniefiok · Effect of pretreatment on the oil yield of African star apple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17920" y="1188720"/>
            <a:ext cx="246888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moisture content: 8.74%.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Untreated control yield: 10.82%.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pretreated run gave more oil (11.85% to 16.92%).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yields at the centre point (70 °C, 12.5 min).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2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2: Analysis of Variance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Udedeh, Wisdom Aniefiok · Effect of pretreatment on the oil yield of African star apple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9377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914400"/>
                <a:gridCol w="1280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D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 Temperature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X₂ Duration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X₁X₂ Interaction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X₁² Temperature²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X₂² Duration²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Lack of 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0" y="1051560"/>
            <a:ext cx="301752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model (coded):</a:t>
            </a:r>
            <a:endParaRPr lang="en-US" sz="14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16.65 + 1.16X₁ + 0.74X₂ − 0.11X₁X₂ − 1.98X₁² − 1.32X₂²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0.949; adjusted R² = 0.913.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had a larger effect than duration.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fit was significant, so the model is best used to describe trends.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2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3: Response Surface and Optimum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Udedeh, Wisdom Aniefiok · Effect of pretreatment on the oil yield of African star apple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5" name="Image 0" descr="/tmp/claude-0/-home-user-turbo-waddle/ad35ba9a-094e-5ee6-8003-ce9eec29c07b/scratchpad/ud/word/media/image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70788"/>
            <a:ext cx="4023360" cy="2950464"/>
          </a:xfrm>
          <a:prstGeom prst="rect">
            <a:avLst/>
          </a:prstGeom>
        </p:spPr>
      </p:pic>
      <p:pic>
        <p:nvPicPr>
          <p:cNvPr id="6" name="Image 1" descr="/tmp/claude-0/-home-user-turbo-waddle/ad35ba9a-094e-5ee6-8003-ce9eec29c07b/scratchpad/ud/word/media/image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975" y="960120"/>
            <a:ext cx="3782291" cy="2971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931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4.23: Response surface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931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4.24: Contour plot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maximum yield of 16.92% at 75.7 °C and 14.5 min.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2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4: Validation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Udedeh, Wisdom Aniefiok · Effect of pretreatment on the oil yield of African star apple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7548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yield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D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Untreated control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10.82 ± 0.15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at optimum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at 74.2 °C, 14.8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17.14 ± 0.09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017520"/>
            <a:ext cx="47548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yield was within 1.36% of the predicted value.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Pretreatment increased oil yield by 58.41% over the untreated seed.</a:t>
            </a:r>
            <a:endParaRPr lang="en-US" sz="1500" dirty="0"/>
          </a:p>
        </p:txBody>
      </p:sp>
      <p:pic>
        <p:nvPicPr>
          <p:cNvPr id="7" name="Image 0" descr="/tmp/claude-0/-home-user-turbo-waddle/ad35ba9a-094e-5ee6-8003-ce9eec29c07b/scratchpad/ud/word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331595"/>
            <a:ext cx="3200400" cy="20002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4.1: Oil yield at selected conditions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2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5: Physicochemical Properties of the Oil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Udedeh, Wisdom Aniefiok · Effect of pretreatment on the oil yield of African star apple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828800"/>
                <a:gridCol w="182880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Untreated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Pretreated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D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 value (mg KOH/g)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3.85 ± 0.12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3.25 ± 0.10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4.0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Saponification value (mg KOH/g)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188.32 ± 1.53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194.80 ± 1.59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180–200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Iodine value (g I₂/100 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54.15 ± 0.89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58.66 ± 0.76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gravity (25 °C)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0.9124 ± 0.0015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0.9168 ± 0.0012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0.890–0.930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Refractive index (25 °C)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1.4652 ± 0.0006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1.4678 ± 0.0005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1.450–1.480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429000"/>
            <a:ext cx="822960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Pretreatment lowered the acid value, consistent with heat inactivating seed lipases.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properties stayed within the reference ranges for vegetable oils; the oil is non-drying.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2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Udedeh, Wisdom Aniefiok · Effect of pretreatment on the oil yield of African star apple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Oven pretreatment raised oil yield from 10.82% to 17.14%, an increase of 58.41%.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had a larger effect than duration, and the two did not interact significantly.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RSM gave a significant quadratic model (R² = 0.949).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predicted optimum was 75.7 °C for 14.5 min; validation at 74.2 °C for 14.8 min gave 17.14%.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Pretreatment lowered the acid value and kept other oil properties within standard limits.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2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and Contribution to Knowledge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Udedeh, Wisdom Aniefiok · Effect of pretreatment on the oil yield of African star apple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continuous pretreatment (rotary drum, fluidised bed) at pilot scale.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greener solvents such as bio-ethanol, ethyl lactate or supercritical CO₂.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out GC-MS fatty-acid profiling and thermal analysis of the oil.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out techno-economic and life-cycle assessments, including use of the seed cake.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to knowledge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pretreatment condition (74.2 °C, 14.8 min) for African star apple seeds.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equations linking pretreatment conditions to oil yield.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way to turn star apple seed waste into useful oil.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A2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comments are welcome.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Effect of Pretreatment on the Oil Yield of African Star Apple</dc:title>
  <dc:subject>PptxGenJS Presentation</dc:subject>
  <dc:creator>Udedeh, Wisdom Aniefiok</dc:creator>
  <cp:lastModifiedBy>Udedeh, Wisdom Aniefiok</cp:lastModifiedBy>
  <cp:revision>1</cp:revision>
  <dcterms:created xsi:type="dcterms:W3CDTF">2026-09-27T18:39:17Z</dcterms:created>
  <dcterms:modified xsi:type="dcterms:W3CDTF">2026-09-27T18:39:17Z</dcterms:modified>
</cp:coreProperties>
</file>