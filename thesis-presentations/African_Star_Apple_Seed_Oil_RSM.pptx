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A231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A2314"/>
                </a:solidFill>
                <a:latin typeface="Arial"/>
              </a:rPr>
              <a:t>Mean oil yield (%) by run: temperature (°C) / time (min)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yield (%)</c:v>
                </c:pt>
              </c:strCache>
            </c:strRef>
          </c:tx>
          <c:spPr>
            <a:solidFill>
              <a:srgbClr val="A2531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21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Control</c:v>
                  </c:pt>
                  <c:pt idx="1">
                    <c:v>R1
50/5</c:v>
                  </c:pt>
                  <c:pt idx="2">
                    <c:v>R2
90/5</c:v>
                  </c:pt>
                  <c:pt idx="3">
                    <c:v>R3
50/20</c:v>
                  </c:pt>
                  <c:pt idx="4">
                    <c:v>R4
90/20</c:v>
                  </c:pt>
                  <c:pt idx="5">
                    <c:v>R5
50/12.5</c:v>
                  </c:pt>
                  <c:pt idx="6">
                    <c:v>R6
90/12.5</c:v>
                  </c:pt>
                  <c:pt idx="7">
                    <c:v>R7
70/5</c:v>
                  </c:pt>
                  <c:pt idx="8">
                    <c:v>R8
70/20</c:v>
                  </c:pt>
                  <c:pt idx="9">
                    <c:v>Centre
70/12.5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10.82</c:v>
                </c:pt>
                <c:pt idx="1">
                  <c:v>11.85</c:v>
                </c:pt>
                <c:pt idx="2">
                  <c:v>14.1</c:v>
                </c:pt>
                <c:pt idx="3">
                  <c:v>13.35</c:v>
                </c:pt>
                <c:pt idx="4">
                  <c:v>15.15</c:v>
                </c:pt>
                <c:pt idx="5">
                  <c:v>12.7</c:v>
                </c:pt>
                <c:pt idx="6">
                  <c:v>15.62</c:v>
                </c:pt>
                <c:pt idx="7">
                  <c:v>13.87</c:v>
                </c:pt>
                <c:pt idx="8">
                  <c:v>15.77</c:v>
                </c:pt>
                <c:pt idx="9">
                  <c:v>16.86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B21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5F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5F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A231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A2314"/>
                </a:solidFill>
                <a:latin typeface="Arial"/>
              </a:rPr>
              <a:t>Oil yield at selected conditions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Oil yield (%)</c:v>
                </c:pt>
              </c:strCache>
            </c:strRef>
          </c:tx>
          <c:spPr>
            <a:solidFill>
              <a:srgbClr val="B9A89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1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A8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6A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231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Untreated control</c:v>
                  </c:pt>
                  <c:pt idx="1">
                    <c:v>Lowest run (50 °C, 5 min)</c:v>
                  </c:pt>
                  <c:pt idx="2">
                    <c:v>Highest run (70 °C, 12.5 min)</c:v>
                  </c:pt>
                  <c:pt idx="3">
                    <c:v>Validation (74.2 °C, 14.8 min)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10.82</c:v>
                </c:pt>
                <c:pt idx="1">
                  <c:v>11.85</c:v>
                </c:pt>
                <c:pt idx="2">
                  <c:v>16.92</c:v>
                </c:pt>
                <c:pt idx="3">
                  <c:v>17.14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2B21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5F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5F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Centre bar is the mean of the five centre-point replicates (16.77–16.92%).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urbo-waddle/ad35ba9a-094e-5ee6-8003-ce9eec29c07b/scratchpad/ud/word/media/image1.jpg">    </p:cNvPr>
          <p:cNvPicPr>
            <a:picLocks noChangeAspect="1"/>
          </p:cNvPicPr>
          <p:nvPr/>
        </p:nvPicPr>
        <p:blipFill>
          <a:blip r:embed="rId1"/>
          <a:srcRect l="5908" r="5908" t="0" b="0"/>
          <a:stretch/>
        </p:blipFill>
        <p:spPr>
          <a:xfrm>
            <a:off x="5486400" y="0"/>
            <a:ext cx="36576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502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B.ENG. PROJECT DEFENCE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8686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of Oven Thermal Pretreatment on the Oil Yield of African Star Apple Seeds Using Response Surface Methodology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0632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 Wisdom Aniefiok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2D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20/EG/AE/705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2D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Elijah G. Ikrang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343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D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Agricultural and Food Engineering, University of Uyo ·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discarded seeds into an oil feedstock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51206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Agro-waste: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albidum (agbalumo / udara) seeds are dumped after the pulp is eaten.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demand: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oil suits soaps, cosmetics, lubricants and biodiesel, with no food-vs-fuel conflict.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Low-oil seed: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yields of only about 10–24%, so recovery must be maximised.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pretreatment helps, up to a point: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ruptures cells and aids oil flow, but excess heat lowers yield and quality.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validated oven temperature–time combination for these seeds.</a:t>
            </a:r>
            <a:endParaRPr lang="en-US" sz="1400" dirty="0"/>
          </a:p>
        </p:txBody>
      </p:sp>
      <p:pic>
        <p:nvPicPr>
          <p:cNvPr id="5" name="Image 0" descr="/tmp/claude-0/-home-user-turbo-waddle/ad35ba9a-094e-5ee6-8003-ce9eec29c07b/scratchpad/ud/word/media/imag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1089" y="1234440"/>
            <a:ext cx="2728222" cy="3383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0" y="4645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star apple fruits (Fig. 1.1)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2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determine and optimise the effects of oven pretreatment temperature and duration on oil yield from African star apple seeds using RSM.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148840"/>
            <a:ext cx="411480" cy="41148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17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9659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seeds to uniform particle size and determine initial moisture content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3063240"/>
            <a:ext cx="411480" cy="41148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880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 at set temperature–time combinations; extract under constant Soxhlet conditions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3977640"/>
            <a:ext cx="411480" cy="41148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17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7947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linear, interaction and quadratic effects on oil yield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63440" y="196596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2148840"/>
            <a:ext cx="411480" cy="41148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17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19659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second-order model, find the optimum and validate 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63440" y="288036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063240"/>
            <a:ext cx="411480" cy="41148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5349240" y="2880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acid, saponification and iodine values, specific gravity and refractive index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seed to oil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38912" cy="438912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48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280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washed, dried 24 h, cracked, milled, 2 mm sieve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75688"/>
            <a:ext cx="438912" cy="438912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48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9842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Moisture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≈5 g at 105 °C to constant mass (wet basis)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79776"/>
            <a:ext cx="438912" cy="438912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779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48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6883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Oven pretreatment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layer, 50–90 °C for 5–20 min, cooled in desiccator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483864"/>
            <a:ext cx="438912" cy="438912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83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48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39242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Soxhlet extraction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g sample, 250 mL n-hexane, 6 h; solvent removed by rotary evaporator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187952"/>
            <a:ext cx="438912" cy="438912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187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48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0965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yield, AV, SV, IV, specific gravity, refractive index</a:t>
            </a:r>
            <a:endParaRPr lang="en-US" sz="1400" dirty="0"/>
          </a:p>
        </p:txBody>
      </p:sp>
      <p:pic>
        <p:nvPicPr>
          <p:cNvPr id="19" name="Image 0" descr="/tmp/claude-0/-home-user-turbo-waddle/ad35ba9a-094e-5ee6-8003-ce9eec29c07b/scratchpad/ud/word/media/imag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045" y="1234440"/>
            <a:ext cx="2571750" cy="34290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035040" y="46817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Soxhlet set-up used (Fig. 3.1)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Face-centred central composite design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4754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(°C)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 (min)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97480"/>
            <a:ext cx="109728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27706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33101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factorial points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673352" y="2697480"/>
            <a:ext cx="109728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27706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1810512" y="33101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axial points (α = 1)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89504" y="2697480"/>
            <a:ext cx="109728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26664" y="27706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026664" y="33101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centre-point replicates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05656" y="2697480"/>
            <a:ext cx="109728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42816" y="27706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4242816" y="33101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total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577840" y="1325880"/>
            <a:ext cx="3108960" cy="3383280"/>
          </a:xfrm>
          <a:prstGeom prst="roundRect">
            <a:avLst>
              <a:gd name="adj" fmla="val 235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Second-order model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1874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β₁X₁ + β₂X₂ + β₁₂X₁X₂ + β₁₁X₁² + β₂₂X₂²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760720" y="2606040"/>
            <a:ext cx="27432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by multiple regression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ANOVA, lack-of-fit and residual diagnostics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optimisation (desirability) to maximise yield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order randomised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977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extracted in triplicate; untreated control extracted under the same conditions.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OIL YIELD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pretreated run beat the raw seed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28016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35331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8.74%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1869948"/>
            <a:ext cx="1920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moisture content (wet basis)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92240" y="237744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45059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10.82%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967228"/>
            <a:ext cx="1920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 control yield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922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54787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11.85–16.92%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4064508"/>
            <a:ext cx="1920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across pretreated runs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ANOVA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significant quadratic model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937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 Duration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X₁X₂ Interaction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X₁² Quadratic temp.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X₂² Quadratic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Lack of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4937760" cy="640080"/>
          </a:xfrm>
          <a:prstGeom prst="roundRect">
            <a:avLst>
              <a:gd name="adj" fmla="val 1142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16.65 + 1.16X₁ + 0.74X₂ − 0.11X₁X₂ − 1.98X₁² − 1.32X₂²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760720" y="1280160"/>
            <a:ext cx="1371600" cy="960120"/>
          </a:xfrm>
          <a:prstGeom prst="roundRect">
            <a:avLst>
              <a:gd name="adj" fmla="val 761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97880" y="1353312"/>
            <a:ext cx="10972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0.949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1869948"/>
            <a:ext cx="10972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0" y="1280160"/>
            <a:ext cx="1371600" cy="960120"/>
          </a:xfrm>
          <a:prstGeom prst="roundRect">
            <a:avLst>
              <a:gd name="adj" fmla="val 761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52360" y="1353312"/>
            <a:ext cx="10972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0.913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1869948"/>
            <a:ext cx="10972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R²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2468880"/>
            <a:ext cx="29260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quadratic terms give a rise-and-fall response with a clear maximum.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lack of fit reflects very tight centre replicates; predicted R² = 0.619, so use the model for trends.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OPTIMISATION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response surface peaks near 76 °C and 14.5 min</a:t>
            </a:r>
            <a:endParaRPr lang="en-US" sz="2800" dirty="0"/>
          </a:p>
        </p:txBody>
      </p:sp>
      <p:pic>
        <p:nvPicPr>
          <p:cNvPr id="4" name="Image 0" descr="/tmp/claude-0/-home-user-turbo-waddle/ad35ba9a-094e-5ee6-8003-ce9eec29c07b/scratchpad/ud/word/media/imag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4114800" cy="3017520"/>
          </a:xfrm>
          <a:prstGeom prst="rect">
            <a:avLst/>
          </a:prstGeom>
        </p:spPr>
      </p:pic>
      <p:pic>
        <p:nvPicPr>
          <p:cNvPr id="5" name="Image 1" descr="/tmp/claude-0/-home-user-turbo-waddle/ad35ba9a-094e-5ee6-8003-ce9eec29c07b/scratchpad/ud/word/media/imag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411" y="1188720"/>
            <a:ext cx="3956858" cy="31089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343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response surface (Fig. 4.23)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846320" y="4343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Iso-yield contour with optimum ★ and validation ◇ (Fig. 4.24)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maximum: </a:t>
            </a:r>
            <a:pPr indent="0" marL="0">
              <a:buNone/>
            </a:pPr>
            <a:r>
              <a:rPr lang="en-US" sz="13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16.92% at 75.7 °C and 14.5 min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FACTOR EFFECTS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mattered more than time</a:t>
            </a:r>
            <a:endParaRPr lang="en-US" sz="2800" dirty="0"/>
          </a:p>
        </p:txBody>
      </p:sp>
      <p:pic>
        <p:nvPicPr>
          <p:cNvPr id="4" name="Image 0" descr="/tmp/claude-0/-home-user-turbo-waddle/ad35ba9a-094e-5ee6-8003-ce9eec29c07b/scratchpad/ud/word/media/imag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05049"/>
            <a:ext cx="4754880" cy="339634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6451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Perturbation plot (Fig. 4.14)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394960" y="128016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532120" y="1280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Stronger effect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has the larger linear and quadratic coefficients (+1.16, −1.98).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94960" y="242316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532120" y="2423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 and fall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factors raise yield up to about 76 °C and 14.5–15 min, then yield declines.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94960" y="356616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3566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not significant (p = 0.68): each factor can be tuned separately.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VALIDATION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confirmed the optimum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23774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17.14%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07108"/>
            <a:ext cx="2377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yield at 74.2 °C, 14.8 min (± 0.09, n = 3)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7919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16.91%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2186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model-predicted yield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822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+58.4%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36168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control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828800" y="3749040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65960" y="3822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1.36%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436168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error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3474720" y="1234440"/>
          <a:ext cx="53035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PHYSICOCHEMICAL PROPERTIES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quality stayed within vegetable-oil limits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17320"/>
                <a:gridCol w="1600200"/>
                <a:gridCol w="9144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Pretreated (optimum)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3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value (mg KOH/g)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3.85 ± 0.12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 ± 0.10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Saponification value (mg KOH/g)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188.32 ± 1.53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194.80 ± 1.59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180–200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Iodine value (g I₂/100 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54.15 ± 0.89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58.66 ± 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100 (non-drying)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gravity (25 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0.9124 ± 0.0015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0.9168 ± 0.0012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0.890–0.930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Refractive index (25 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1.4652 ± 0.0006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1.4678 ± 0.0005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1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1.450–1.480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E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9476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acidity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heat inactivating seed lipases.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3246120" y="379476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Non-drying oil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Iodine value under 100 suits soaps, cosmetics and lubricants.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035040" y="379476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7220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25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degradation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indices within reference ranges after pretreatment.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FIVE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54480"/>
            <a:ext cx="457200" cy="45720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25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 up 58%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10.82% (raw) → 17.14% at 74.2 °C, 14.8 min.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554480"/>
            <a:ext cx="457200" cy="45720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325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leads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effect than duration; interaction not significant.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743200"/>
            <a:ext cx="457200" cy="45720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14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Useful model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 RSM model, R² = 0.949; best used for trends.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468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2743200"/>
            <a:ext cx="457200" cy="45720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514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optimum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16.92% at 75.7 °C, 14.5 min; observed within 1.36%.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31920"/>
            <a:ext cx="457200" cy="45720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03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kept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value fell to 3.25 mg KOH/g; other indices within limits.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3657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EEE6"/>
          </a:solidFill>
          <a:ln w="12700">
            <a:solidFill>
              <a:srgbClr val="F7EE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931920"/>
            <a:ext cx="457200" cy="457200"/>
          </a:xfrm>
          <a:prstGeom prst="ellipse">
            <a:avLst/>
          </a:prstGeom>
          <a:solidFill>
            <a:srgbClr val="A2531A"/>
          </a:solidFill>
          <a:ln w="12700">
            <a:solidFill>
              <a:srgbClr val="A2531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703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3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Waste to wealth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oven step makes star apple seeds a viable oil source.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D4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Scale-up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rotary-drum or fluidised-bed roasting; measure throughput and energy.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0574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D4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solvents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bio-ethanol, ethyl lactate and supercritical CO₂ in place of n-hexane.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457200" cy="45720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926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D4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profile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GC-MS fatty-acid profiling and TGA thermal degradation kinetics.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457200" cy="45720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7947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D4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Economics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Techno-economic and life-cycle assessment, including use of the defatted cake.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0" y="1097280"/>
            <a:ext cx="3017520" cy="2926080"/>
          </a:xfrm>
          <a:prstGeom prst="roundRect">
            <a:avLst>
              <a:gd name="adj" fmla="val 2500"/>
            </a:avLst>
          </a:prstGeom>
          <a:solidFill>
            <a:srgbClr val="4E321F"/>
          </a:solidFill>
          <a:ln w="12700">
            <a:solidFill>
              <a:srgbClr val="4E32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52160" y="1234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 to knowledge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1783080"/>
            <a:ext cx="265176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pretreatment condition (74.2 °C, 14.8 min) for C. albidum seeds before solvent extraction.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equations linking thermal severity to oil recovery.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valorisation route for star apple seed waste.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urbo-waddle/ad35ba9a-094e-5ee6-8003-ce9eec29c07b/scratchpad/ud/word/media/image1.jpg">    </p:cNvPr>
          <p:cNvPicPr>
            <a:picLocks noChangeAspect="1"/>
          </p:cNvPicPr>
          <p:nvPr/>
        </p:nvPicPr>
        <p:blipFill>
          <a:blip r:embed="rId1"/>
          <a:srcRect l="3704" r="3704" t="0" b="0"/>
          <a:stretch/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89120" y="16459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389120" y="25603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D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comments are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Oven Thermal Pretreatment and Oil Yield of African Star Apple Seeds</dc:title>
  <dc:subject>PptxGenJS Presentation</dc:subject>
  <dc:creator>Udedeh Wisdom Aniefiok</dc:creator>
  <cp:lastModifiedBy>Udedeh Wisdom Aniefiok</cp:lastModifiedBy>
  <cp:revision>1</cp:revision>
  <dcterms:created xsi:type="dcterms:W3CDTF">2026-09-27T18:04:59Z</dcterms:created>
  <dcterms:modified xsi:type="dcterms:W3CDTF">2026-09-27T18:04:59Z</dcterms:modified>
</cp:coreProperties>
</file>