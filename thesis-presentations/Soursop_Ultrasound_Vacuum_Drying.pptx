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Slab mass gain after sonication (mean)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Mass gain (%)</c:v>
                </c:pt>
              </c:strCache>
            </c:strRef>
          </c:tx>
          <c:spPr>
            <a:solidFill>
              <a:srgbClr val="2E6B3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min</c:v>
                  </c:pt>
                  <c:pt idx="1">
                    <c:v>10 min</c:v>
                  </c:pt>
                  <c:pt idx="2">
                    <c:v>15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9.74</c:v>
                </c:pt>
                <c:pt idx="1">
                  <c:v>25.48</c:v>
                </c:pt>
                <c:pt idx="2">
                  <c:v>28.27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2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6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60"/>
                    </a:solidFill>
                    <a:latin typeface="Arial"/>
                  </a:rPr>
                  <a:t>Mass gain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Mean Deff (× 10⁻¹⁰ m²/s)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°C</c:v>
                </c:pt>
              </c:strCache>
            </c:strRef>
          </c:tx>
          <c:spPr>
            <a:solidFill>
              <a:srgbClr val="A9CDB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0.987</c:v>
                </c:pt>
                <c:pt idx="1">
                  <c:v>0.901</c:v>
                </c:pt>
                <c:pt idx="2">
                  <c:v>1.129</c:v>
                </c:pt>
                <c:pt idx="3">
                  <c:v>1.002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°C</c:v>
                </c:pt>
              </c:strCache>
            </c:strRef>
          </c:tx>
          <c:spPr>
            <a:solidFill>
              <a:srgbClr val="4F8F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1.921</c:v>
                </c:pt>
                <c:pt idx="1">
                  <c:v>1.96</c:v>
                </c:pt>
                <c:pt idx="2">
                  <c:v>1.9</c:v>
                </c:pt>
                <c:pt idx="3">
                  <c:v>1.701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°C</c:v>
                </c:pt>
              </c:strCache>
            </c:strRef>
          </c:tx>
          <c:spPr>
            <a:solidFill>
              <a:srgbClr val="173B2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Control</c:v>
                  </c:pt>
                  <c:pt idx="1">
                    <c:v>5 min</c:v>
                  </c:pt>
                  <c:pt idx="2">
                    <c:v>10 min</c:v>
                  </c:pt>
                  <c:pt idx="3">
                    <c:v>15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2.851</c:v>
                </c:pt>
                <c:pt idx="1">
                  <c:v>3.293</c:v>
                </c:pt>
                <c:pt idx="2">
                  <c:v>2.826</c:v>
                </c:pt>
                <c:pt idx="3">
                  <c:v>2.544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F2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3B24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3B24"/>
                </a:solidFill>
                <a:latin typeface="Arial"/>
              </a:rPr>
              <a:t>Drying rate constant k (h⁻¹)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173B24"/>
            </a:solidFill>
            <a:ln w="31750" cap="flat">
              <a:solidFill>
                <a:srgbClr val="173B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73B24"/>
              </a:solidFill>
              <a:ln w="9525" cap="flat">
                <a:solidFill>
                  <a:srgbClr val="173B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0.2038</c:v>
                </c:pt>
                <c:pt idx="1">
                  <c:v>0.4258</c:v>
                </c:pt>
                <c:pt idx="2">
                  <c:v>0.6345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 min US</c:v>
                </c:pt>
              </c:strCache>
            </c:strRef>
          </c:tx>
          <c:spPr>
            <a:solidFill>
              <a:srgbClr val="7FB28E"/>
            </a:solidFill>
            <a:ln w="31750" cap="flat">
              <a:solidFill>
                <a:srgbClr val="7FB28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B28E"/>
              </a:solidFill>
              <a:ln w="9525" cap="flat">
                <a:solidFill>
                  <a:srgbClr val="7FB28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0.1711</c:v>
                </c:pt>
                <c:pt idx="1">
                  <c:v>0.3693</c:v>
                </c:pt>
                <c:pt idx="2">
                  <c:v>0.5568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 min US</c:v>
                </c:pt>
              </c:strCache>
            </c:strRef>
          </c:tx>
          <c:spPr>
            <a:solidFill>
              <a:srgbClr val="C9A24A"/>
            </a:solidFill>
            <a:ln w="31750" cap="flat">
              <a:solidFill>
                <a:srgbClr val="C9A2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9A24A"/>
              </a:solidFill>
              <a:ln w="9525" cap="flat">
                <a:solidFill>
                  <a:srgbClr val="C9A2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0.1993</c:v>
                </c:pt>
                <c:pt idx="1">
                  <c:v>0.3528</c:v>
                </c:pt>
                <c:pt idx="2">
                  <c:v>0.5737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15 min US</c:v>
                </c:pt>
              </c:strCache>
            </c:strRef>
          </c:tx>
          <c:spPr>
            <a:solidFill>
              <a:srgbClr val="B85C38"/>
            </a:solidFill>
            <a:ln w="31750" cap="flat">
              <a:solidFill>
                <a:srgbClr val="B85C3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5C38"/>
              </a:solidFill>
              <a:ln w="9525" cap="flat">
                <a:solidFill>
                  <a:srgbClr val="B85C3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50 °C</c:v>
                  </c:pt>
                  <c:pt idx="1">
                    <c:v>60 °C</c:v>
                  </c:pt>
                  <c:pt idx="2">
                    <c:v>70 °C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0.1808</c:v>
                </c:pt>
                <c:pt idx="1">
                  <c:v>0.327</c:v>
                </c:pt>
                <c:pt idx="2">
                  <c:v>0.4743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study: ultrasound immersion pretreatment followed by vacuum drying of soursop slabs, analysed through drying kinetics, eight thin-layer models, effective moisture diffusivity, activation energy and factorial ANOVA.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literature suggests large time savings from ultrasound, which motivated testing whether soursop behaves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work was done in the Food Engineering Laboratory, Department of Agricultural and Food Engineering, University of Uyo.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gb/word/media/image1.png">    </p:cNvPr>
          <p:cNvPicPr>
            <a:picLocks noChangeAspect="1"/>
          </p:cNvPicPr>
          <p:nvPr/>
        </p:nvPicPr>
        <p:blipFill>
          <a:blip r:embed="rId1"/>
          <a:srcRect l="28044" r="28044" t="0" b="0"/>
          <a:stretch/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548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B.ENG. PROJECT PRESENTATION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1440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Pretreatment and Vacuum Drying Kinetics of Soursop (Annona muricata) Slabs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89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 kinetics, thin-layer modelling, effective moisture diffusivity and activation energy under a 4 × 3 factorial design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069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Uyo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soursop, and why ultrasound?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93776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perishable: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moisture content makes soursop soften and deteriorate rapidly after harvest.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Hot-air drying damages quality: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flavour, case hardening and destruction of vitamin C and carotenoids.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drying is gentler but slow: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temperature and little oxygen, but convection is weak at low pressure.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“sponge effect”: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cavitation opens micro-channels that may speed moisture migration.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on combined ultrasound + vacuum drying for soursop.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Drying-time reductions reported for ultrasound in other crops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182880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90195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41–53%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237286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Carrot slices, US + vacuum (Chen et al., 2016)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28346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97880" y="290779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337870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cassava (Oladejo et al., 2021)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384048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3913632"/>
            <a:ext cx="2651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384548"/>
            <a:ext cx="26517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Roselle leaves (Oladejo et al., 2023)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investigate the effects of ultrasound immersion pretreatment on the drying kinetics, thin-layer modelling, effective moisture diffusivity, thermodynamic properties and statistical dynamics of soursop slabs during vacuum drying.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2860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17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ultrasound duration (0, 5, 10, 15 min) on solution uptake and mass gain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32004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017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Thin-layer vacuum drying kinetics at 50, 60 and 70 °C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41148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17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9319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eight thin-layer models and identify the most suitable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63440" y="21031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22860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17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21031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moisture diffusivity (Deff) and Arrhenius activation energy (Ea)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200400"/>
            <a:ext cx="411480" cy="41148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5349240" y="301752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factorial ANOVA with Fisher’s LSD, Duncan’s DMRT and Tukey’s HSD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procedure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prep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soursop, Akpan Andem Market, Uyo. Peeled, sliced 3 mm, ≈3 g slabs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0428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56032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kHz, 600 W probe in 500 mL distilled water for 0, 5, 10, 15 min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Vacuum drying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kPa absolute at 50, 60, 70 °C; mass logged to 0.001 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6766560" y="137160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03720" y="150876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ratio, drying rate, 8 models, Deff, Ea, two-way ANOVA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3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factorial design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324612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combinations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035040" y="37947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 </a:t>
            </a:r>
            <a:pPr indent="0" marL="0">
              <a:buNone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units (3 slabs each)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and statistical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Thin-layer models (8)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(Newton)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Henderson and Pabis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Logarithmic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Two-term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and Singh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et 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 properties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MR = (M − Me)/(M0 − Me)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 from Fick’s second law (slab geometry)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from Arrhenius: Deff = D0 exp(−Ea/RT)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Ea,k from the Modified Page rate constant 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920240"/>
            <a:ext cx="228600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Goodness of fit: R², RMSE, χ²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factorial ANOVA (T × US)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hoc: Fisher’s LSD, Duncan’s DMRT, Tukey’s HSD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at p &lt; 0.05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MASS GAIN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Ultrasound made the slabs absorb water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4754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3716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15000" y="1444752"/>
            <a:ext cx="283464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F(2, 21) = 21.51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007108"/>
            <a:ext cx="2834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0.001: sonication time significantly affected uptake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2651760"/>
            <a:ext cx="31089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at 10 and 15 min did not differ significantly (both grouped “a”).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cavitation opening channels in the tissue.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extra 10–28% water must be removed again during drying.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DRYING CURVES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set the drying time</a:t>
            </a:r>
            <a:endParaRPr lang="en-US" sz="2800" dirty="0"/>
          </a:p>
        </p:txBody>
      </p:sp>
      <p:pic>
        <p:nvPicPr>
          <p:cNvPr id="4" name="Image 0" descr="/tmp/claude-0/-home-user-turbo-waddle/ad35ba9a-094e-5ee6-8003-ce9eec29c07b/scratchpad/gb/word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357" y="1234440"/>
            <a:ext cx="2600325" cy="1920240"/>
          </a:xfrm>
          <a:prstGeom prst="rect">
            <a:avLst/>
          </a:prstGeom>
        </p:spPr>
      </p:pic>
      <p:pic>
        <p:nvPicPr>
          <p:cNvPr id="5" name="Image 1" descr="/tmp/claude-0/-home-user-turbo-waddle/ad35ba9a-094e-5ee6-8003-ce9eec29c07b/scratchpad/gb/word/media/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317" y="1234440"/>
            <a:ext cx="2600325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vs time at 50 °C (Fig. 4.1)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3566160" y="3154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ratio vs time at 70 °C (Fig. 4.3)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766560" y="1280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13533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13.0 → 6.0 h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18470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control, 50 → 70 °C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766560" y="2331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0372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−54%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28986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drying time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and 70 °C: drying almost entirely in the falling-rate period.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°C: rate roughly constant (≈0.09–0.13 h⁻¹) for the first 4–7 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70 °C, 10 and 15 min US took 7.0 and 7.5 h vs 6.0 h for control.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THIN-LAYER MODELLING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Midilli et al. model gave the best fit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9144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(60 °C, control)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 (Newton)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Henderson and Pabis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Logarithmic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Two-term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and Singh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Midilli et 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3D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754880" y="13258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of 12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892040" y="19385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best fitted by Midilli et al.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12280" y="13258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12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1938528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and Singh (US runs at 60 °C)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606040"/>
            <a:ext cx="39319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Best-fit R² = 0.9962 – 0.9993 across all 12 runs.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0.0089 – 0.0199.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form: MR = a·exp(−ktⁿ) + bt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DEFF AND 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Diffusivity rose with temperature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325880"/>
          <a:ext cx="2926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 (kJ/mol)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60720" y="3063240"/>
            <a:ext cx="29260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Deff: 0.901 – 3.293 × 10⁻¹⁰ m²/s.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and 15 min US gave lower Ea than the control.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FACTORIAL ANOVA ON DEFF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dominated the variance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92.9%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042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sum of squares explained by drying temperature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 time (US)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×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37560"/>
            <a:ext cx="8229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temperatures differ (c &lt; b &lt; a) under LSD, DMRT and Tukey.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time and the interaction are significant, but US did not change Deff at 50 or 60 °C.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US gave the lowest mean Deff (1.749 × 10⁻¹⁰ m²/s).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MODIFIED PAGE RATE CONSTANT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Sonicated slabs dried more slowly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3258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990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406.19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938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effect on ln(k), p &lt; 0.001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60720" y="246888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54203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2E6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= 9.53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3081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effect, p &lt; 0.001; no interaction (p = 0.295)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657600"/>
            <a:ext cx="2926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US was significantly slower than control at 60 and 70 °C.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FIVE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5448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gain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Sonication added 9.74–28.27% mass; 10 and 15 min were alike.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55448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325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Drying period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Falling-rate at 60–70 °C; near-constant rate for 4–7 h at 50 °C.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74320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Drying time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→ 70 °C cut control drying from 13.0 h to 6.0 h (54%); US never shortened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468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274320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514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model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Midilli et al. in 9/12 runs; Wang and Singh in 3 runs at 60 °C.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3192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Deff &amp; Ea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0.901–3.293 × 10⁻¹⁰ m²/s; Ea 42.35–59.85 kJ/mol.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3657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4EF"/>
          </a:solidFill>
          <a:ln w="12700">
            <a:solidFill>
              <a:srgbClr val="EEF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931920"/>
            <a:ext cx="457200" cy="457200"/>
          </a:xfrm>
          <a:prstGeom prst="ellipse">
            <a:avLst/>
          </a:prstGeom>
          <a:solidFill>
            <a:srgbClr val="2E6B3F"/>
          </a:solidFill>
          <a:ln w="12700">
            <a:solidFill>
              <a:srgbClr val="2E6B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7033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factor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not ultrasound, controlled vacuum drying of soursop.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3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258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dry at 70 °C and 10 kPa (≈6 h). Ultrasound immersion is not recommended for shortening drying time.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945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ascorbic acid, phenolics, flavonoids, antioxidant capacity (DPPH/FRAP) and acetogenins.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0632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specific energy consumption and exergy analyses against convective drying.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502920" cy="502920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7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319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water-soaked control, record every post-sonication mass, and test pulsed, multi-frequency and airborne ultrasound.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urbo-waddle/ad35ba9a-094e-5ee6-8003-ce9eec29c07b/scratchpad/gb/word/media/image1.png">    </p:cNvPr>
          <p:cNvPicPr>
            <a:picLocks noChangeAspect="1"/>
          </p:cNvPicPr>
          <p:nvPr/>
        </p:nvPicPr>
        <p:blipFill>
          <a:blip r:embed="rId1"/>
          <a:srcRect l="29042" r="29042" t="0" b="0"/>
          <a:stretch/>
        </p:blipFill>
        <p:spPr>
          <a:xfrm>
            <a:off x="0" y="0"/>
            <a:ext cx="384048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389120" y="16459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389120" y="25603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Ultrasound-Assisted Vacuum Drying of Soursop Slabs</dc:title>
  <dc:subject>PptxGenJS Presentation</dc:subject>
  <dc:creator>PptxGenJS</dc:creator>
  <cp:lastModifiedBy>PptxGenJS</cp:lastModifiedBy>
  <cp:revision>1</cp:revision>
  <dcterms:created xsi:type="dcterms:W3CDTF">2026-09-27T18:05:04Z</dcterms:created>
  <dcterms:modified xsi:type="dcterms:W3CDTF">2026-09-27T18:05:04Z</dcterms:modified>
</cp:coreProperties>
</file>