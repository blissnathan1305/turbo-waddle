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Mass gain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Mass gain (%)</c:v>
                </c:pt>
              </c:strCache>
            </c:strRef>
          </c:tx>
          <c:spPr>
            <a:solidFill>
              <a:srgbClr val="2E6B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 min</c:v>
                  </c:pt>
                  <c:pt idx="1">
                    <c:v>10 min</c:v>
                  </c:pt>
                  <c:pt idx="2">
                    <c:v>15 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9.74</c:v>
                </c:pt>
                <c:pt idx="1">
                  <c:v>25.48</c:v>
                </c:pt>
                <c:pt idx="2">
                  <c:v>28.27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Ultrasound Pretreatment and Vacuum Drying Kinetics of Soursop (Annona muricata) Slabs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20/EG/FE/580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Ayobami Olayemi Oladejo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Agricultural and Food Engineering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Engineering, University of Uyo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of the Study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1206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Soursop is a high-moisture tropical fruit that softens and deteriorates quickly after harvest.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Hot-air drying extends shelf life but can destroy vitamin C and carotenoids and cause case hardening.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drying works at lower temperature with little oxygen, but it is slow.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pretreatment creates micro-channels in the tissue (the “sponge effect”) and has cut drying time in other crops:</a:t>
            </a:r>
            <a:endParaRPr lang="en-US" sz="1500" dirty="0"/>
          </a:p>
          <a:p>
            <a:pPr lvl="1" marL="4572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 41–53% (Chen et al., 2016); yellow cassava 35% (Oladejo et al., 2021); roselle 47% (Oladejo et al., 2023)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little information on combining ultrasound with vacuum drying for soursop.</a:t>
            </a:r>
            <a:endParaRPr lang="en-US" sz="1500" dirty="0"/>
          </a:p>
        </p:txBody>
      </p:sp>
      <p:pic>
        <p:nvPicPr>
          <p:cNvPr id="6" name="Image 0" descr="/tmp/claude-0/-home-user-turbo-waddle/ad35ba9a-094e-5ee6-8003-ce9eec29c07b/scratchpad/gb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72956"/>
            <a:ext cx="2834640" cy="15918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Soursop fruit (Fig. 1.1)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investigate the effects of ultrasound immersion pretreatment on the drying kinetics, modelling, moisture diffusivity and activation energy of soursop slabs during vacuum drying.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8229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effect of ultrasound time (0, 5, 10, 15 min) on mass gain of the slabs.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vacuum drying kinetics at 50, 60 and 70 °C.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eight thin-layer drying models and select the most suitable.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effective moisture diffusivity (Deff) and activation energy (Ea).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effects with two-way ANOVA and post-hoc tests (LSD, DMRT, Tukey).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and Methods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soursop from Akpan Andem Market, Uyo; peeled and cut into 3 mm slabs of about 3 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kHz, 600 W probe in 500 mL distilled water for 0, 5, 10 and 15 min.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drying: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kPa absolute pressure at 50, 60 and 70 °C; mass recorded to 0.001 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3 full factorial, 12 treatments, three slabs each (36 units).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ratio, drying rate, eight thin-layer models (R², RMSE, χ²), Deff from Fick’s law, Ea from the Arrhenius equation, two-way ANOVA.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1: Mass Gain after Ultrasound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120640" y="1280160"/>
            <a:ext cx="35661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gain increased with ultrasound time (F(2, 21) = 21.51, p &lt; 0.001).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and 15 min gains were not significantly different.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slabs absorbed water during sonication, which then had to be removed during drying.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2: Drying Curves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5" name="Image 0" descr="/tmp/claude-0/-home-user-turbo-waddle/ad35ba9a-094e-5ee6-8003-ce9eec29c07b/scratchpad/gb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1005840"/>
            <a:ext cx="3467100" cy="2560320"/>
          </a:xfrm>
          <a:prstGeom prst="rect">
            <a:avLst/>
          </a:prstGeom>
        </p:spPr>
      </p:pic>
      <p:pic>
        <p:nvPicPr>
          <p:cNvPr id="6" name="Image 1" descr="/tmp/claude-0/-home-user-turbo-waddle/ad35ba9a-094e-5ee6-8003-ce9eec29c07b/scratchpad/gb/word/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570" y="1005840"/>
            <a:ext cx="3467100" cy="2560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4.1: 50 °C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4.3: 70 °C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temperature from 50 to 70 °C cut drying time of the control from 13.0 h to 6.0 h (54%).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did not shorten drying time at any temperature.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3: Thin-Layer Model Fitting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(60 °C, control)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(Newton)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Henderson and Pabis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and Singh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Midilli et 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Midilli et al. model gave the best fit in 9 of the 12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and Singh model fitted best in the other 3 runs (ultrasound runs at 60 °C).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R² = 0.9962 to 0.9993; RMSE = 0.0089 to 0.0199.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4: Moisture Diffusivity and Activation Energy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  <a:gridCol w="1600200"/>
                <a:gridCol w="1600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Deff 50 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Deff 60 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Deff 70 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(kJ/mol)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Deff values are × 10⁻¹⁰ m²/s (mean, n = 3)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Deff increased with drying temperature and followed the Arrhenius relationship (R² = 0.9834 to 0.9963).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energy ranged from 42.35 to 59.85 kJ/mol; 10 and 15 min ultrasound gave lower values than the control.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5: Analysis of Variance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 time (US)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×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for Deff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097280"/>
            <a:ext cx="33832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temperature was the main factor (92.9% of the total sum of squares).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time and the interaction were significant, but ultrasound did not change Deff at 50 or 60 °C.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Modified Page rate constant k (0.171 to 0.634 h⁻¹) showed the same pattern; 15 min ultrasound dried slower than the control at 60 and 70 °C.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increased slab mass by 9.74% to 28.27% through water uptake.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at 60 and 70 °C occurred mainly in the falling-rate period.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temperature from 50 to 70 °C reduced drying time by 54%; ultrasound did not shorten drying.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Midilli et al. model best described the drying curves.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Deff ranged from 0.901 to 3.293 × 10⁻¹⁰ m²/s and Ea from 42.35 to 59.85 kJ/mol.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temperature, not ultrasound, was the main factor controlling vacuum drying of soursop.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Bill Uro · Ultrasound pretreatment and vacuum drying of soursop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dry soursop slabs at 70 °C and 10 kPa for the shortest drying time (about 6 h); ultrasound immersion is not recommended for shortening drying.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retention of vitamin C, phenolics, flavonoids and antioxidant capacity in the dried slabs.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energy and exergy analyses of ultrasound-assisted vacuum drying.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water-soaked control and test pulsed, multi-frequency and airborne ultrasound in future work.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comments are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Ultrasound Pretreatment and Vacuum Drying Kinetics of Soursop Slabs</dc:title>
  <dc:subject>PptxGenJS Presentation</dc:subject>
  <dc:creator>Grace Bill Uro</dc:creator>
  <cp:lastModifiedBy>Grace Bill Uro</cp:lastModifiedBy>
  <cp:revision>1</cp:revision>
  <dcterms:created xsi:type="dcterms:W3CDTF">2026-09-27T18:25:34Z</dcterms:created>
  <dcterms:modified xsi:type="dcterms:W3CDTF">2026-09-27T18:25:34Z</dcterms:modified>
</cp:coreProperties>
</file>